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8"/>
                </a:solidFill>
                <a:latin typeface="+mn-lt"/>
              </a:rPr>
              <a:t>Total boardings by route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boardings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R5</c:v>
                  </c:pt>
                  <c:pt idx="1">
                    <c:v>R1</c:v>
                  </c:pt>
                  <c:pt idx="2">
                    <c:v>R3</c:v>
                  </c:pt>
                  <c:pt idx="3">
                    <c:v>R8</c:v>
                  </c:pt>
                  <c:pt idx="4">
                    <c:v>R10</c:v>
                  </c:pt>
                  <c:pt idx="5">
                    <c:v>R2</c:v>
                  </c:pt>
                  <c:pt idx="6">
                    <c:v>R6</c:v>
                  </c:pt>
                  <c:pt idx="7">
                    <c:v>R7</c:v>
                  </c:pt>
                  <c:pt idx="8">
                    <c:v>R9</c:v>
                  </c:pt>
                  <c:pt idx="9">
                    <c:v>R4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5379</c:v>
                </c:pt>
                <c:pt idx="1">
                  <c:v>5349</c:v>
                </c:pt>
                <c:pt idx="2">
                  <c:v>5158</c:v>
                </c:pt>
                <c:pt idx="3">
                  <c:v>3356</c:v>
                </c:pt>
                <c:pt idx="4">
                  <c:v>2690</c:v>
                </c:pt>
                <c:pt idx="5">
                  <c:v>2247</c:v>
                </c:pt>
                <c:pt idx="6">
                  <c:v>2208</c:v>
                </c:pt>
                <c:pt idx="7">
                  <c:v>1724</c:v>
                </c:pt>
                <c:pt idx="8">
                  <c:v>1260</c:v>
                </c:pt>
                <c:pt idx="9">
                  <c:v>887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8"/>
                </a:solidFill>
                <a:latin typeface="+mn-lt"/>
              </a:rPr>
              <a:t>Average boardings per trip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boardings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 peak</c:v>
                  </c:pt>
                  <c:pt idx="1">
                    <c:v>Evening peak</c:v>
                  </c:pt>
                  <c:pt idx="2">
                    <c:v>Off-peak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81.8</c:v>
                </c:pt>
                <c:pt idx="1">
                  <c:v>79.9</c:v>
                </c:pt>
                <c:pt idx="2">
                  <c:v>44.9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8"/>
                </a:solidFill>
                <a:latin typeface="+mn-lt"/>
              </a:rPr>
              <a:t>Average delay (min), top 5 routes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R3</c:v>
                  </c:pt>
                  <c:pt idx="1">
                    <c:v>R5</c:v>
                  </c:pt>
                  <c:pt idx="2">
                    <c:v>R8</c:v>
                  </c:pt>
                  <c:pt idx="3">
                    <c:v>R9</c:v>
                  </c:pt>
                  <c:pt idx="4">
                    <c:v>R7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9.48</c:v>
                </c:pt>
                <c:pt idx="1">
                  <c:v>8.6</c:v>
                </c:pt>
                <c:pt idx="2">
                  <c:v>8.33</c:v>
                </c:pt>
                <c:pt idx="3">
                  <c:v>4.05</c:v>
                </c:pt>
                <c:pt idx="4">
                  <c:v>3.85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8"/>
                </a:solidFill>
                <a:latin typeface="+mn-lt"/>
              </a:rPr>
              <a:t>Average boardings by event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boardings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Festival</c:v>
                  </c:pt>
                  <c:pt idx="1">
                    <c:v>Cricket</c:v>
                  </c:pt>
                  <c:pt idx="2">
                    <c:v>No event</c:v>
                  </c:pt>
                  <c:pt idx="3">
                    <c:v>Concert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69.5</c:v>
                </c:pt>
                <c:pt idx="1">
                  <c:v>69</c:v>
                </c:pt>
                <c:pt idx="2">
                  <c:v>60</c:v>
                </c:pt>
                <c:pt idx="3">
                  <c:v>57.1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business question: how does passenger demand vary and where should MetroLink focus its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data had 512 rows and six quality problems. After cleaning there are 500 trips, 10 routes and no missing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R5, R1 and R3 carry over half of all passengers. Top stops are S20, S01 and S25. R4 is the weakest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Morning and evening peaks average about 80 passengers per trip versus 45 off-peak. Weekends are about 23 percent 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R3, R5 and R8 are chronic delay routes. Cricket matches and festivals raise demand; the concert sample is too small to conclude.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your own RMSE and R-squared values from Colab if they differ slightly.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step: collect more concert data before planning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MetroLink Transit Insight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demand, improving service</a:t>
            </a:r>
            <a:endParaRPr lang="en-US" sz="2200" dirty="0"/>
          </a:p>
        </p:txBody>
      </p:sp>
      <p:sp>
        <p:nvSpPr>
          <p:cNvPr id="4" name="Business question"/>
          <p:cNvSpPr txBox="1"/>
          <p:nvPr/>
        </p:nvSpPr>
        <p:spPr>
          <a:xfrm>
            <a:off x="640080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passenger demand peak, and where should service planning focus?</a:t>
            </a:r>
            <a:endParaRPr lang="en-US" sz="1600" dirty="0"/>
          </a:p>
        </p:txBody>
      </p:sp>
      <p:sp>
        <p:nvSpPr>
          <p:cNvPr id="5" name="Presenter"/>
          <p:cNvSpPr txBox="1"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Sristi Pokharel  |  Reg. No. 722824104236  |  U23AD491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cleaning</a:t>
            </a:r>
            <a:endParaRPr lang="en-US" sz="3200" dirty="0"/>
          </a:p>
        </p:txBody>
      </p:sp>
      <p:sp>
        <p:nvSpPr>
          <p:cNvPr id="3" name="Rows card"/>
          <p:cNvSpPr/>
          <p:nvPr/>
        </p:nvSpPr>
        <p:spPr>
          <a:xfrm>
            <a:off x="457200" y="1097280"/>
            <a:ext cx="25603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ows value"/>
          <p:cNvSpPr txBox="1"/>
          <p:nvPr/>
        </p:nvSpPr>
        <p:spPr>
          <a:xfrm>
            <a:off x="640080" y="1207008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→ 500</a:t>
            </a:r>
            <a:endParaRPr lang="en-US" sz="2800" dirty="0"/>
          </a:p>
        </p:txBody>
      </p:sp>
      <p:sp>
        <p:nvSpPr>
          <p:cNvPr id="5" name="Rows label"/>
          <p:cNvSpPr txBox="1"/>
          <p:nvPr/>
        </p:nvSpPr>
        <p:spPr>
          <a:xfrm>
            <a:off x="640080" y="16687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records after cleaning</a:t>
            </a:r>
            <a:endParaRPr lang="en-US" sz="1300" dirty="0"/>
          </a:p>
        </p:txBody>
      </p:sp>
      <p:sp>
        <p:nvSpPr>
          <p:cNvPr id="6" name="Routes card"/>
          <p:cNvSpPr/>
          <p:nvPr/>
        </p:nvSpPr>
        <p:spPr>
          <a:xfrm>
            <a:off x="457200" y="2331720"/>
            <a:ext cx="25603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outes value"/>
          <p:cNvSpPr txBox="1"/>
          <p:nvPr/>
        </p:nvSpPr>
        <p:spPr>
          <a:xfrm>
            <a:off x="640080" y="2441448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→ 10</a:t>
            </a:r>
            <a:endParaRPr lang="en-US" sz="2800" dirty="0"/>
          </a:p>
        </p:txBody>
      </p:sp>
      <p:sp>
        <p:nvSpPr>
          <p:cNvPr id="8" name="Routes label"/>
          <p:cNvSpPr txBox="1"/>
          <p:nvPr/>
        </p:nvSpPr>
        <p:spPr>
          <a:xfrm>
            <a:off x="640080" y="29032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name variants fixed</a:t>
            </a:r>
            <a:endParaRPr lang="en-US" sz="1300" dirty="0"/>
          </a:p>
        </p:txBody>
      </p:sp>
      <p:sp>
        <p:nvSpPr>
          <p:cNvPr id="9" name="Missing card"/>
          <p:cNvSpPr/>
          <p:nvPr/>
        </p:nvSpPr>
        <p:spPr>
          <a:xfrm>
            <a:off x="457200" y="3566160"/>
            <a:ext cx="25603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issing value"/>
          <p:cNvSpPr txBox="1"/>
          <p:nvPr/>
        </p:nvSpPr>
        <p:spPr>
          <a:xfrm>
            <a:off x="640080" y="3675888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Missing label"/>
          <p:cNvSpPr txBox="1"/>
          <p:nvPr/>
        </p:nvSpPr>
        <p:spPr>
          <a:xfrm>
            <a:off x="640080" y="41376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left</a:t>
            </a:r>
            <a:endParaRPr lang="en-US" sz="1300" dirty="0"/>
          </a:p>
        </p:txBody>
      </p:sp>
      <p:sp>
        <p:nvSpPr>
          <p:cNvPr id="12" name="Fixes heading"/>
          <p:cNvSpPr txBox="1"/>
          <p:nvPr/>
        </p:nvSpPr>
        <p:spPr>
          <a:xfrm>
            <a:off x="34747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and fixed</a:t>
            </a:r>
            <a:endParaRPr lang="en-US" sz="2000" dirty="0"/>
          </a:p>
        </p:txBody>
      </p:sp>
      <p:sp>
        <p:nvSpPr>
          <p:cNvPr id="13" name="Fixes list"/>
          <p:cNvSpPr txBox="1"/>
          <p:nvPr/>
        </p:nvSpPr>
        <p:spPr>
          <a:xfrm>
            <a:off x="3474720" y="16459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duplicate records removed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missing stop IDs labelled UNKNOWN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missing delays filled with the route median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negative passenger counts corrected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boarding outliers capped using the IQR method</a:t>
            </a:r>
            <a:endParaRPr lang="en-US" sz="1600" dirty="0"/>
          </a:p>
        </p:txBody>
      </p:sp>
      <p:sp>
        <p:nvSpPr>
          <p:cNvPr id="14" name="Footnote"/>
          <p:cNvSpPr txBox="1"/>
          <p:nvPr/>
        </p:nvSpPr>
        <p:spPr>
          <a:xfrm>
            <a:off x="3474720" y="4114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sources combined into one table of 16 attributes.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concentrated on three routes</a:t>
            </a:r>
            <a:endParaRPr lang="en-US" sz="3200" dirty="0"/>
          </a:p>
        </p:txBody>
      </p:sp>
      <p:graphicFrame>
        <p:nvGraphicFramePr>
          <p:cNvPr id="3" name="Route chart" descr=""/>
          <p:cNvGraphicFramePr/>
          <p:nvPr/>
        </p:nvGraphicFramePr>
        <p:xfrm>
          <a:off x="45720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re card"/>
          <p:cNvSpPr/>
          <p:nvPr/>
        </p:nvSpPr>
        <p:spPr>
          <a:xfrm>
            <a:off x="6035040" y="1097280"/>
            <a:ext cx="2651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re value"/>
          <p:cNvSpPr txBox="1"/>
          <p:nvPr/>
        </p:nvSpPr>
        <p:spPr>
          <a:xfrm>
            <a:off x="6217920" y="120700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800" dirty="0"/>
          </a:p>
        </p:txBody>
      </p:sp>
      <p:sp>
        <p:nvSpPr>
          <p:cNvPr id="6" name="Share label"/>
          <p:cNvSpPr txBox="1"/>
          <p:nvPr/>
        </p:nvSpPr>
        <p:spPr>
          <a:xfrm>
            <a:off x="6217920" y="16687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boardings are on R5, R1 and R3</a:t>
            </a:r>
            <a:endParaRPr lang="en-US" sz="1300" dirty="0"/>
          </a:p>
        </p:txBody>
      </p:sp>
      <p:sp>
        <p:nvSpPr>
          <p:cNvPr id="7" name="Stops card"/>
          <p:cNvSpPr/>
          <p:nvPr/>
        </p:nvSpPr>
        <p:spPr>
          <a:xfrm>
            <a:off x="6035040" y="2331720"/>
            <a:ext cx="2651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ops value"/>
          <p:cNvSpPr txBox="1"/>
          <p:nvPr/>
        </p:nvSpPr>
        <p:spPr>
          <a:xfrm>
            <a:off x="6217920" y="244144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S20, S01, S25</a:t>
            </a:r>
            <a:endParaRPr lang="en-US" sz="2800" dirty="0"/>
          </a:p>
        </p:txBody>
      </p:sp>
      <p:sp>
        <p:nvSpPr>
          <p:cNvPr id="9" name="Stops label"/>
          <p:cNvSpPr txBox="1"/>
          <p:nvPr/>
        </p:nvSpPr>
        <p:spPr>
          <a:xfrm>
            <a:off x="6217920" y="29032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stops (3,600 / 2,713 / 2,600)</a:t>
            </a:r>
            <a:endParaRPr lang="en-US" sz="1300" dirty="0"/>
          </a:p>
        </p:txBody>
      </p:sp>
      <p:sp>
        <p:nvSpPr>
          <p:cNvPr id="10" name="Weak card"/>
          <p:cNvSpPr/>
          <p:nvPr/>
        </p:nvSpPr>
        <p:spPr>
          <a:xfrm>
            <a:off x="6035040" y="3566160"/>
            <a:ext cx="2651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Weak value"/>
          <p:cNvSpPr txBox="1"/>
          <p:nvPr/>
        </p:nvSpPr>
        <p:spPr>
          <a:xfrm>
            <a:off x="6217920" y="367588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887</a:t>
            </a:r>
            <a:endParaRPr lang="en-US" sz="2800" dirty="0"/>
          </a:p>
        </p:txBody>
      </p:sp>
      <p:sp>
        <p:nvSpPr>
          <p:cNvPr id="12" name="Weak label"/>
          <p:cNvSpPr txBox="1"/>
          <p:nvPr/>
        </p:nvSpPr>
        <p:spPr>
          <a:xfrm>
            <a:off x="6217920" y="41376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boardings on R4, the weakest route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periods carry almost twice the load</a:t>
            </a:r>
            <a:endParaRPr lang="en-US" sz="3200" dirty="0"/>
          </a:p>
        </p:txBody>
      </p:sp>
      <p:graphicFrame>
        <p:nvGraphicFramePr>
          <p:cNvPr id="3" name="Period chart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eak hour card"/>
          <p:cNvSpPr/>
          <p:nvPr/>
        </p:nvSpPr>
        <p:spPr>
          <a:xfrm>
            <a:off x="5760720" y="109728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eak hour value"/>
          <p:cNvSpPr txBox="1"/>
          <p:nvPr/>
        </p:nvSpPr>
        <p:spPr>
          <a:xfrm>
            <a:off x="5943600" y="1207008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AM</a:t>
            </a:r>
            <a:endParaRPr lang="en-US" sz="2800" dirty="0"/>
          </a:p>
        </p:txBody>
      </p:sp>
      <p:sp>
        <p:nvSpPr>
          <p:cNvPr id="6" name="Peak hour label"/>
          <p:cNvSpPr txBox="1"/>
          <p:nvPr/>
        </p:nvSpPr>
        <p:spPr>
          <a:xfrm>
            <a:off x="5943600" y="16687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hour; evening peak is 5 to 7 PM</a:t>
            </a:r>
            <a:endParaRPr lang="en-US" sz="1300" dirty="0"/>
          </a:p>
        </p:txBody>
      </p:sp>
      <p:sp>
        <p:nvSpPr>
          <p:cNvPr id="7" name="Weekend card"/>
          <p:cNvSpPr/>
          <p:nvPr/>
        </p:nvSpPr>
        <p:spPr>
          <a:xfrm>
            <a:off x="5760720" y="233172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Weekend value"/>
          <p:cNvSpPr txBox="1"/>
          <p:nvPr/>
        </p:nvSpPr>
        <p:spPr>
          <a:xfrm>
            <a:off x="5943600" y="2441448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 vs 50.1</a:t>
            </a:r>
            <a:endParaRPr lang="en-US" sz="2800" dirty="0"/>
          </a:p>
        </p:txBody>
      </p:sp>
      <p:sp>
        <p:nvSpPr>
          <p:cNvPr id="9" name="Weekend label"/>
          <p:cNvSpPr txBox="1"/>
          <p:nvPr/>
        </p:nvSpPr>
        <p:spPr>
          <a:xfrm>
            <a:off x="5943600" y="29032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boardings per trip</a:t>
            </a:r>
            <a:endParaRPr lang="en-US" sz="1300" dirty="0"/>
          </a:p>
        </p:txBody>
      </p:sp>
      <p:sp>
        <p:nvSpPr>
          <p:cNvPr id="10" name="Drop card"/>
          <p:cNvSpPr/>
          <p:nvPr/>
        </p:nvSpPr>
        <p:spPr>
          <a:xfrm>
            <a:off x="5760720" y="356616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rop value"/>
          <p:cNvSpPr txBox="1"/>
          <p:nvPr/>
        </p:nvSpPr>
        <p:spPr>
          <a:xfrm>
            <a:off x="5943600" y="3675888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-22.8%</a:t>
            </a:r>
            <a:endParaRPr lang="en-US" sz="2800" dirty="0"/>
          </a:p>
        </p:txBody>
      </p:sp>
      <p:sp>
        <p:nvSpPr>
          <p:cNvPr id="12" name="Drop label"/>
          <p:cNvSpPr txBox="1"/>
          <p:nvPr/>
        </p:nvSpPr>
        <p:spPr>
          <a:xfrm>
            <a:off x="5943600" y="41376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demand is lower than weekday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Delays and events</a:t>
            </a:r>
            <a:endParaRPr lang="en-US" sz="3200" dirty="0"/>
          </a:p>
        </p:txBody>
      </p:sp>
      <p:graphicFrame>
        <p:nvGraphicFramePr>
          <p:cNvPr id="3" name="Delay chart" descr=""/>
          <p:cNvGraphicFramePr/>
          <p:nvPr/>
        </p:nvGraphicFramePr>
        <p:xfrm>
          <a:off x="457200" y="109728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Event chart" descr=""/>
          <p:cNvGraphicFramePr/>
          <p:nvPr/>
        </p:nvGraphicFramePr>
        <p:xfrm>
          <a:off x="4663440" y="109728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Delay caption"/>
          <p:cNvSpPr txBox="1"/>
          <p:nvPr/>
        </p:nvSpPr>
        <p:spPr>
          <a:xfrm>
            <a:off x="457200" y="4023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 R5 and R8 run late on 80 to 92% of trips; other routes average under 4.1 minutes.</a:t>
            </a:r>
            <a:endParaRPr lang="en-US" sz="1300" dirty="0"/>
          </a:p>
        </p:txBody>
      </p:sp>
      <p:sp>
        <p:nvSpPr>
          <p:cNvPr id="6" name="Event caption"/>
          <p:cNvSpPr txBox="1"/>
          <p:nvPr/>
        </p:nvSpPr>
        <p:spPr>
          <a:xfrm>
            <a:off x="4663440" y="4023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days lift ridership about 10.6%. Concerts show no rise, but only 11 trips.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demand: the model</a:t>
            </a:r>
            <a:endParaRPr lang="en-US" sz="3200" dirty="0"/>
          </a:p>
        </p:txBody>
      </p:sp>
      <p:graphicFrame>
        <p:nvGraphicFramePr>
          <p:cNvPr id="7" name="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4" name="Model note"/>
          <p:cNvSpPr txBox="1"/>
          <p:nvPr/>
        </p:nvSpPr>
        <p:spPr>
          <a:xfrm>
            <a:off x="457200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boardings per trip. Random Forest predicts within about 12.5 passengers and beats the baseline.</a:t>
            </a:r>
            <a:endParaRPr lang="en-US" sz="1400" dirty="0"/>
          </a:p>
        </p:txBody>
      </p:sp>
      <p:sp>
        <p:nvSpPr>
          <p:cNvPr id="5" name="Drivers heading"/>
          <p:cNvSpPr txBox="1"/>
          <p:nvPr/>
        </p:nvSpPr>
        <p:spPr>
          <a:xfrm>
            <a:off x="55778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drivers</a:t>
            </a:r>
            <a:endParaRPr lang="en-US" sz="2000" dirty="0"/>
          </a:p>
        </p:txBody>
      </p:sp>
      <p:sp>
        <p:nvSpPr>
          <p:cNvPr id="6" name="Drivers list"/>
          <p:cNvSpPr txBox="1"/>
          <p:nvPr/>
        </p:nvSpPr>
        <p:spPr>
          <a:xfrm>
            <a:off x="5577840" y="1737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off-peak period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distance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Rec 1 card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1 badg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c 1 number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Rec 1 title"/>
          <p:cNvSpPr txBox="1"/>
          <p:nvPr/>
        </p:nvSpPr>
        <p:spPr>
          <a:xfrm>
            <a:off x="1234440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peak capacity</a:t>
            </a:r>
            <a:endParaRPr lang="en-US" sz="1600" dirty="0"/>
          </a:p>
        </p:txBody>
      </p:sp>
      <p:sp>
        <p:nvSpPr>
          <p:cNvPr id="7" name="Rec 1 text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buses on R5, R1 and R3 from 7 to 9 AM and 5 to 7 PM.</a:t>
            </a:r>
            <a:endParaRPr lang="en-US" sz="1400" dirty="0"/>
          </a:p>
        </p:txBody>
      </p:sp>
      <p:sp>
        <p:nvSpPr>
          <p:cNvPr id="8" name="Rec 2 card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 2 badge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c 2 number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Rec 2 title"/>
          <p:cNvSpPr txBox="1"/>
          <p:nvPr/>
        </p:nvSpPr>
        <p:spPr>
          <a:xfrm>
            <a:off x="5440680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reliability first on R3 and R5</a:t>
            </a:r>
            <a:endParaRPr lang="en-US" sz="1600" dirty="0"/>
          </a:p>
        </p:txBody>
      </p:sp>
      <p:sp>
        <p:nvSpPr>
          <p:cNvPr id="12" name="Rec 2 text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and high delay together hurt the most passengers. Then review R8.</a:t>
            </a:r>
            <a:endParaRPr lang="en-US" sz="1400" dirty="0"/>
          </a:p>
        </p:txBody>
      </p:sp>
      <p:sp>
        <p:nvSpPr>
          <p:cNvPr id="13" name="Rec 3 card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 3 badge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Rec 3 number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Rec 3 title"/>
          <p:cNvSpPr txBox="1"/>
          <p:nvPr/>
        </p:nvSpPr>
        <p:spPr>
          <a:xfrm>
            <a:off x="123444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weekends</a:t>
            </a:r>
            <a:endParaRPr lang="en-US" sz="1600" dirty="0"/>
          </a:p>
        </p:txBody>
      </p:sp>
      <p:sp>
        <p:nvSpPr>
          <p:cNvPr id="17" name="Rec 3 text"/>
          <p:cNvSpPr txBox="1"/>
          <p:nvPr/>
        </p:nvSpPr>
        <p:spPr>
          <a:xfrm>
            <a:off x="64008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weekend trips on R4, R9 and R7 and move the buses to busier routes.</a:t>
            </a:r>
            <a:endParaRPr lang="en-US" sz="1400" dirty="0"/>
          </a:p>
        </p:txBody>
      </p:sp>
      <p:sp>
        <p:nvSpPr>
          <p:cNvPr id="18" name="Rec 4 card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 4 badge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Rec 4 number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Rec 4 title"/>
          <p:cNvSpPr txBox="1"/>
          <p:nvPr/>
        </p:nvSpPr>
        <p:spPr>
          <a:xfrm>
            <a:off x="544068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event days</a:t>
            </a:r>
            <a:endParaRPr lang="en-US" sz="1600" dirty="0"/>
          </a:p>
        </p:txBody>
      </p:sp>
      <p:sp>
        <p:nvSpPr>
          <p:cNvPr id="22" name="Rec 4 text"/>
          <p:cNvSpPr txBox="1"/>
          <p:nvPr/>
        </p:nvSpPr>
        <p:spPr>
          <a:xfrm>
            <a:off x="484632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buses and staff for cricket and festivals; improve stops S20, S01, S25.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Link">
  <a:themeElements>
    <a:clrScheme name="MetroLink">
      <a:dk1>
        <a:srgbClr val="1B2A38"/>
      </a:dk1>
      <a:lt1>
        <a:srgbClr val="FFFFFF"/>
      </a:lt1>
      <a:dk2>
        <a:srgbClr val="0F4C5C"/>
      </a:dk2>
      <a:lt2>
        <a:srgbClr val="EAF2F4"/>
      </a:lt2>
      <a:accent1>
        <a:srgbClr val="0F4C5C"/>
      </a:accent1>
      <a:accent2>
        <a:srgbClr val="F2A900"/>
      </a:accent2>
      <a:accent3>
        <a:srgbClr val="2A9D8F"/>
      </a:accent3>
      <a:accent4>
        <a:srgbClr val="E76F51"/>
      </a:accent4>
      <a:accent5>
        <a:srgbClr val="6C7A89"/>
      </a:accent5>
      <a:accent6>
        <a:srgbClr val="264653"/>
      </a:accent6>
      <a:hlink>
        <a:srgbClr val="0F4C5C"/>
      </a:hlink>
      <a:folHlink>
        <a:srgbClr val="6C7A89"/>
      </a:folHlink>
    </a:clrScheme>
    <a:fontScheme name="MetroL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MetroLink Transit Insight</dc:title>
  <dc:subject>PptxGenJS Presentation</dc:subject>
  <dc:creator>PptxGenJS</dc:creator>
  <cp:lastModifiedBy>PptxGenJS</cp:lastModifiedBy>
  <cp:revision>1</cp:revision>
  <dcterms:created xsi:type="dcterms:W3CDTF">2026-10-13T09:00:38Z</dcterms:created>
  <dcterms:modified xsi:type="dcterms:W3CDTF">2026-10-13T09:00:38Z</dcterms:modified>
</cp:coreProperties>
</file>